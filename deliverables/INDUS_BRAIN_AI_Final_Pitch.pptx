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927005"/>
                </a:solidFill>
                <a:latin typeface="Arial"/>
              </a:rPr>
              <a:t>INDUS BRAIN AI</a:t>
            </a:r>
          </a:p>
          <a:p>
            <a:pPr algn="ctr">
              <a:spcBef>
                <a:spcPts val="2000"/>
              </a:spcBef>
            </a:pPr>
            <a:r>
              <a:rPr sz="2000" b="1">
                <a:solidFill>
                  <a:srgbClr val="1E293B"/>
                </a:solidFill>
                <a:latin typeface="Arial"/>
              </a:rPr>
              <a:t>The Unified Asset &amp; Operations Brain for Industrial Enterprise Intelligence</a:t>
            </a:r>
          </a:p>
          <a:p>
            <a:pPr algn="ctr">
              <a:spcBef>
                <a:spcPts val="5000"/>
              </a:spcBef>
            </a:pPr>
            <a:r>
              <a:rPr sz="1200">
                <a:solidFill>
                  <a:srgbClr val="64748B"/>
                </a:solidFill>
                <a:latin typeface="Arial"/>
              </a:rPr>
              <a:t>ET AI Hackathon 2026 Submission  |  Developed by Team Indus Brain (NITESH100LANKI)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927005"/>
                </a:solidFill>
                <a:latin typeface="Arial"/>
              </a:rPr>
              <a:t>The Problem: Unstructured Industrial Silos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927005"/>
                </a:solidFill>
                <a:latin typeface="Arial"/>
              </a:rPr>
              <a:t>• Knowledge Fragmentation: </a:t>
            </a:r>
            <a:r>
              <a:rPr sz="1600" b="0">
                <a:solidFill>
                  <a:srgbClr val="1E293B"/>
                </a:solidFill>
                <a:latin typeface="Arial"/>
              </a:rPr>
              <a:t>Procedures, checklists, audit reports, and manuals are scattered in separate folders and file formats.</a:t>
            </a:r>
          </a:p>
          <a:p>
            <a:pPr>
              <a:spcBef>
                <a:spcPts val="1400"/>
              </a:spcBef>
            </a:pPr>
            <a:r>
              <a:rPr sz="1600" b="1">
                <a:solidFill>
                  <a:srgbClr val="927005"/>
                </a:solidFill>
                <a:latin typeface="Arial"/>
              </a:rPr>
              <a:t>• Downtime Severity: </a:t>
            </a:r>
            <a:r>
              <a:rPr sz="1600" b="0">
                <a:solidFill>
                  <a:srgbClr val="1E293B"/>
                </a:solidFill>
                <a:latin typeface="Arial"/>
              </a:rPr>
              <a:t>Delays in technical retrieval lengthen troubleshooting times, costing up to $45,000 per hour of shutdown.</a:t>
            </a:r>
          </a:p>
          <a:p>
            <a:pPr>
              <a:spcBef>
                <a:spcPts val="1400"/>
              </a:spcBef>
            </a:pPr>
            <a:r>
              <a:rPr sz="1600" b="1">
                <a:solidFill>
                  <a:srgbClr val="927005"/>
                </a:solidFill>
                <a:latin typeface="Arial"/>
              </a:rPr>
              <a:t>• Compliance Gaps: </a:t>
            </a:r>
            <a:r>
              <a:rPr sz="1600" b="0">
                <a:solidFill>
                  <a:srgbClr val="1E293B"/>
                </a:solidFill>
                <a:latin typeface="Arial"/>
              </a:rPr>
              <a:t>Manual auditing fails to detect expired certifications or skipped maintenance tasks, creating regulatory and safety risks.</a:t>
            </a:r>
          </a:p>
          <a:p>
            <a:pPr>
              <a:spcBef>
                <a:spcPts val="1400"/>
              </a:spcBef>
            </a:pPr>
            <a:r>
              <a:rPr sz="1600" b="1">
                <a:solidFill>
                  <a:srgbClr val="927005"/>
                </a:solidFill>
                <a:latin typeface="Arial"/>
              </a:rPr>
              <a:t>• Implicit Knowledge Loss: </a:t>
            </a:r>
            <a:r>
              <a:rPr sz="1600" b="0">
                <a:solidFill>
                  <a:srgbClr val="1E293B"/>
                </a:solidFill>
                <a:latin typeface="Arial"/>
              </a:rPr>
              <a:t>Expert tribal knowledge escapes as senior operators retire, leaving no digitized diagnostic reference.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0116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B91C1C"/>
                </a:solidFill>
                <a:latin typeface="Arial"/>
              </a:rPr>
              <a:t>$45,000+</a:t>
            </a:r>
          </a:p>
          <a:p>
            <a:pPr algn="ctr"/>
            <a:r>
              <a:rPr sz="1600" b="1">
                <a:solidFill>
                  <a:srgbClr val="1E293B"/>
                </a:solidFill>
                <a:latin typeface="Arial"/>
              </a:rPr>
              <a:t>Unplanned Downtime Cost per Hour</a:t>
            </a:r>
          </a:p>
          <a:p>
            <a:pPr algn="ctr">
              <a:spcBef>
                <a:spcPts val="2500"/>
              </a:spcBef>
            </a:pPr>
            <a:r>
              <a:rPr sz="1400">
                <a:solidFill>
                  <a:srgbClr val="64748B"/>
                </a:solidFill>
                <a:latin typeface="Arial"/>
              </a:rPr>
              <a:t>45 Minutes Avg. Search Time per Procedure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927005"/>
                </a:solidFill>
                <a:latin typeface="Arial"/>
              </a:rPr>
              <a:t>Industry Impact &amp; Operational Inefficiencies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927005"/>
                </a:solidFill>
                <a:latin typeface="Arial"/>
              </a:rPr>
              <a:t>• Asset Intensive Complexes: </a:t>
            </a:r>
            <a:r>
              <a:rPr sz="1600" b="0">
                <a:solidFill>
                  <a:srgbClr val="1E293B"/>
                </a:solidFill>
                <a:latin typeface="Arial"/>
              </a:rPr>
              <a:t>Power complexes, chemical plants, and oil refineries operate under extreme hazard conditions where manual diagnostics trigger delayed reaction times.</a:t>
            </a:r>
          </a:p>
          <a:p>
            <a:pPr>
              <a:spcBef>
                <a:spcPts val="1600"/>
              </a:spcBef>
            </a:pPr>
            <a:r>
              <a:rPr sz="1600" b="1">
                <a:solidFill>
                  <a:srgbClr val="927005"/>
                </a:solidFill>
                <a:latin typeface="Arial"/>
              </a:rPr>
              <a:t>• Regulatory &amp; Compliance Burden: </a:t>
            </a:r>
            <a:r>
              <a:rPr sz="1600" b="0">
                <a:solidFill>
                  <a:srgbClr val="1E293B"/>
                </a:solidFill>
                <a:latin typeface="Arial"/>
              </a:rPr>
              <a:t>Annual compliance audits require manual evaluation of safety standards. Failing an audit incurs severe penalties and risks operational freezes.</a:t>
            </a:r>
          </a:p>
          <a:p>
            <a:pPr>
              <a:spcBef>
                <a:spcPts val="1600"/>
              </a:spcBef>
            </a:pPr>
            <a:r>
              <a:rPr sz="1600" b="1">
                <a:solidFill>
                  <a:srgbClr val="927005"/>
                </a:solidFill>
                <a:latin typeface="Arial"/>
              </a:rPr>
              <a:t>• Maintenance Inefficiencies: </a:t>
            </a:r>
            <a:r>
              <a:rPr sz="1600" b="0">
                <a:solidFill>
                  <a:srgbClr val="1E293B"/>
                </a:solidFill>
                <a:latin typeface="Arial"/>
              </a:rPr>
              <a:t>Without contextual search, mechanics perform redundant trial-and-error troubleshooting on heavy machinery.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927005"/>
                </a:solidFill>
                <a:latin typeface="Arial"/>
              </a:rPr>
              <a:t>TARGET SECTORS</a:t>
            </a:r>
          </a:p>
          <a:p>
            <a:pPr>
              <a:spcBef>
                <a:spcPts val="1200"/>
              </a:spcBef>
            </a:pPr>
            <a:r>
              <a:rPr sz="1500">
                <a:solidFill>
                  <a:srgbClr val="1E293B"/>
                </a:solidFill>
                <a:latin typeface="Arial"/>
              </a:rPr>
              <a:t>✔  Power Generation &amp; Utilities</a:t>
            </a:r>
          </a:p>
          <a:p>
            <a:pPr>
              <a:spcBef>
                <a:spcPts val="1200"/>
              </a:spcBef>
            </a:pPr>
            <a:r>
              <a:rPr sz="1500">
                <a:solidFill>
                  <a:srgbClr val="1E293B"/>
                </a:solidFill>
                <a:latin typeface="Arial"/>
              </a:rPr>
              <a:t>✔  Chemical &amp; Petrochemical Processing</a:t>
            </a:r>
          </a:p>
          <a:p>
            <a:pPr>
              <a:spcBef>
                <a:spcPts val="1200"/>
              </a:spcBef>
            </a:pPr>
            <a:r>
              <a:rPr sz="1500">
                <a:solidFill>
                  <a:srgbClr val="1E293B"/>
                </a:solidFill>
                <a:latin typeface="Arial"/>
              </a:rPr>
              <a:t>✔  Oil &amp; Gas Refineries</a:t>
            </a:r>
          </a:p>
          <a:p>
            <a:pPr>
              <a:spcBef>
                <a:spcPts val="1200"/>
              </a:spcBef>
            </a:pPr>
            <a:r>
              <a:rPr sz="1500">
                <a:solidFill>
                  <a:srgbClr val="1E293B"/>
                </a:solidFill>
                <a:latin typeface="Arial"/>
              </a:rPr>
              <a:t>✔  Heavy Metals &amp; Mining Facilities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927005"/>
                </a:solidFill>
                <a:latin typeface="Arial"/>
              </a:rPr>
              <a:t>INDUS BRAIN AI: Solution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927005"/>
                </a:solidFill>
                <a:latin typeface="Arial"/>
              </a:rPr>
              <a:t>✔  Executive Command Center Dashboard: </a:t>
            </a:r>
            <a:r>
              <a:rPr sz="1600" b="0">
                <a:solidFill>
                  <a:srgbClr val="1E293B"/>
                </a:solidFill>
                <a:latin typeface="Arial"/>
              </a:rPr>
              <a:t>Renders instant Plant Health scores, compliance gaps, downtime risks, and incident lists for high-level management oversight.</a:t>
            </a:r>
          </a:p>
          <a:p>
            <a:pPr>
              <a:spcBef>
                <a:spcPts val="1400"/>
              </a:spcBef>
            </a:pPr>
            <a:r>
              <a:rPr sz="1600" b="1">
                <a:solidFill>
                  <a:srgbClr val="927005"/>
                </a:solidFill>
                <a:latin typeface="Arial"/>
              </a:rPr>
              <a:t>✔  Grounded Citation-Based Chat: </a:t>
            </a:r>
            <a:r>
              <a:rPr sz="1600" b="0">
                <a:solidFill>
                  <a:srgbClr val="1E293B"/>
                </a:solidFill>
                <a:latin typeface="Arial"/>
              </a:rPr>
              <a:t>Retrieves safety regulations, equipment procedures, and records, displaying the exact source filename and page numbers to prevent AI hallucination.</a:t>
            </a:r>
          </a:p>
          <a:p>
            <a:pPr>
              <a:spcBef>
                <a:spcPts val="1400"/>
              </a:spcBef>
            </a:pPr>
            <a:r>
              <a:rPr sz="1600" b="1">
                <a:solidFill>
                  <a:srgbClr val="927005"/>
                </a:solidFill>
                <a:latin typeface="Arial"/>
              </a:rPr>
              <a:t>✔  Relational Knowledge Graph Map: </a:t>
            </a:r>
            <a:r>
              <a:rPr sz="1600" b="0">
                <a:solidFill>
                  <a:srgbClr val="1E293B"/>
                </a:solidFill>
                <a:latin typeface="Arial"/>
              </a:rPr>
              <a:t>Visualizes connections across assets, maintenance logs, and audit codes on a live interactive physics-directed graph.</a:t>
            </a:r>
          </a:p>
          <a:p>
            <a:pPr>
              <a:spcBef>
                <a:spcPts val="1400"/>
              </a:spcBef>
            </a:pPr>
            <a:r>
              <a:rPr sz="1600" b="1">
                <a:solidFill>
                  <a:srgbClr val="927005"/>
                </a:solidFill>
                <a:latin typeface="Arial"/>
              </a:rPr>
              <a:t>✔  Automated Compliance &amp; RCA Engine: </a:t>
            </a:r>
            <a:r>
              <a:rPr sz="1600" b="0">
                <a:solidFill>
                  <a:srgbClr val="1E293B"/>
                </a:solidFill>
                <a:latin typeface="Arial"/>
              </a:rPr>
              <a:t>Extracts recurring breakdown root causes, flags regulatory gaps, and recalibrates safety compliance scores via corrective task checklists.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927005"/>
                </a:solidFill>
                <a:latin typeface="Arial"/>
              </a:rPr>
              <a:t>System Architecture &amp; Pipeline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27005"/>
                </a:solidFill>
                <a:latin typeface="Arial"/>
              </a:rPr>
              <a:t>• Multi-Format Ingestion Engine: </a:t>
            </a:r>
            <a:r>
              <a:rPr sz="1400" b="0">
                <a:solidFill>
                  <a:srgbClr val="1E293B"/>
                </a:solidFill>
                <a:latin typeface="Arial"/>
              </a:rPr>
              <a:t>Ingests PDFs, CSVs, and scanned files, running simulated OCR pipelines to compile clean text layers.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NLP NER &amp; Relational Mapper: </a:t>
            </a:r>
            <a:r>
              <a:rPr sz="1400" b="0">
                <a:solidFill>
                  <a:srgbClr val="1E293B"/>
                </a:solidFill>
                <a:latin typeface="Arial"/>
              </a:rPr>
              <a:t>Scans text chunks to extract equipment codes, failure modes, regulations, and verb-level relationships.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Relational &amp; Graph SQLite DB: </a:t>
            </a:r>
            <a:r>
              <a:rPr sz="1400" b="0">
                <a:solidFill>
                  <a:srgbClr val="1E293B"/>
                </a:solidFill>
                <a:latin typeface="Arial"/>
              </a:rPr>
              <a:t>Stores assets, incidents, maintenance events, rules, extracted nodes, and edges inside local relational tables.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Offline TF-IDF Search DB: </a:t>
            </a:r>
            <a:r>
              <a:rPr sz="1400" b="0">
                <a:solidFill>
                  <a:srgbClr val="1E293B"/>
                </a:solidFill>
                <a:latin typeface="Arial"/>
              </a:rPr>
              <a:t>Implements local word overlap RAG queries, eliminating remote cloud vectors and API dependency.</a:t>
            </a:r>
          </a:p>
        </p:txBody>
      </p:sp>
      <p:pic>
        <p:nvPicPr>
          <p:cNvPr id="4" name="Picture 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927005"/>
                </a:solidFill>
                <a:latin typeface="Arial"/>
              </a:rPr>
              <a:t>Knowledge Graph: Connecting Silos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27005"/>
                </a:solidFill>
                <a:latin typeface="Arial"/>
              </a:rPr>
              <a:t>• Relationship Networks: </a:t>
            </a:r>
            <a:r>
              <a:rPr sz="1400" b="0">
                <a:solidFill>
                  <a:srgbClr val="1E293B"/>
                </a:solidFill>
                <a:latin typeface="Arial"/>
              </a:rPr>
              <a:t>Assets are linked to procedures (SOPs), safety findings, and maintenance events. This builds logic paths beyond search.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Drill-Down Graph Refocus: </a:t>
            </a:r>
            <a:r>
              <a:rPr sz="1400" b="0">
                <a:solidFill>
                  <a:srgbClr val="1E293B"/>
                </a:solidFill>
                <a:latin typeface="Arial"/>
              </a:rPr>
              <a:t>Double-clicking any node triggers an API drill-down to isolate and map neighbor connections.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Graph Statistics (Dynamic Seeding): </a:t>
            </a:r>
            <a:r>
              <a:rPr sz="1400" b="0">
                <a:solidFill>
                  <a:srgbClr val="1E293B"/>
                </a:solidFill>
                <a:latin typeface="Arial"/>
              </a:rPr>
              <a:t>Contains 226 unique nodes and 351 active relationships, achieving a dense network ratio of 1.55 edges per node.</a:t>
            </a:r>
          </a:p>
        </p:txBody>
      </p:sp>
      <p:pic>
        <p:nvPicPr>
          <p:cNvPr id="4" name="Picture 3" descr="graph_view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927005"/>
                </a:solidFill>
                <a:latin typeface="Arial"/>
              </a:rPr>
              <a:t>Grounded Copilot RAG &amp; Gemini Key Rotation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27005"/>
                </a:solidFill>
                <a:latin typeface="Arial"/>
              </a:rPr>
              <a:t>• 100% Citation Grounding: </a:t>
            </a:r>
            <a:r>
              <a:rPr sz="1400" b="0">
                <a:solidFill>
                  <a:srgbClr val="1E293B"/>
                </a:solidFill>
                <a:latin typeface="Arial"/>
              </a:rPr>
              <a:t>Retrieves overlapping vectors and tags to answer diagnostic prompts. Every answer details the file source, page index, and confidence score.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Rotated API Key Wrapper: </a:t>
            </a:r>
            <a:r>
              <a:rPr sz="1400" b="0">
                <a:solidFill>
                  <a:srgbClr val="1E293B"/>
                </a:solidFill>
                <a:latin typeface="Arial"/>
              </a:rPr>
              <a:t>Rotates across three configured Gemini keys to handle rate limits and request throttle errors.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Robust Local Fallback Engine: </a:t>
            </a:r>
            <a:r>
              <a:rPr sz="1400" b="0">
                <a:solidFill>
                  <a:srgbClr val="1E293B"/>
                </a:solidFill>
                <a:latin typeface="Arial"/>
              </a:rPr>
              <a:t>If keys are missing, the system uses local TF-IDF matching to output citation snippets and answer mock templates offline.</a:t>
            </a:r>
          </a:p>
        </p:txBody>
      </p:sp>
      <p:pic>
        <p:nvPicPr>
          <p:cNvPr id="4" name="Picture 3" descr="copilot_cha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927005"/>
                </a:solidFill>
                <a:latin typeface="Arial"/>
              </a:rPr>
              <a:t>Asset Digital Twin &amp; Root Cause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27005"/>
                </a:solidFill>
                <a:latin typeface="Arial"/>
              </a:rPr>
              <a:t>• Comprehensive Asset Twin Profile: </a:t>
            </a:r>
            <a:r>
              <a:rPr sz="1400" b="0">
                <a:solidFill>
                  <a:srgbClr val="1E293B"/>
                </a:solidFill>
                <a:latin typeface="Arial"/>
              </a:rPr>
              <a:t>Consolidates equipment logs, location, risk rankings, and adjacent graph nodes inside one digital interface.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Maintenance History Ledger: </a:t>
            </a:r>
            <a:r>
              <a:rPr sz="1400" b="0">
                <a:solidFill>
                  <a:srgbClr val="1E293B"/>
                </a:solidFill>
                <a:latin typeface="Arial"/>
              </a:rPr>
              <a:t>Maps historical repair costs and durations, tracking anomalies and repair frequencies.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RCA Evidence Audit Trail: </a:t>
            </a:r>
            <a:r>
              <a:rPr sz="1400" b="0">
                <a:solidFill>
                  <a:srgbClr val="1E293B"/>
                </a:solidFill>
                <a:latin typeface="Arial"/>
              </a:rPr>
              <a:t>Retrieves safety logs and inspections to reconstruct failure causes (e.g. pressure spikes), displaying verbatim text citations.</a:t>
            </a:r>
          </a:p>
        </p:txBody>
      </p:sp>
      <p:pic>
        <p:nvPicPr>
          <p:cNvPr id="4" name="Picture 3" descr="digital_twin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927005"/>
                </a:solidFill>
                <a:latin typeface="Arial"/>
              </a:rPr>
              <a:t>Compliance Engine &amp; Safety Rules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27005"/>
                </a:solidFill>
                <a:latin typeface="Arial"/>
              </a:rPr>
              <a:t>• Automated Regulation Check: </a:t>
            </a:r>
            <a:r>
              <a:rPr sz="1400" b="0">
                <a:solidFill>
                  <a:srgbClr val="1E293B"/>
                </a:solidFill>
                <a:latin typeface="Arial"/>
              </a:rPr>
              <a:t>Scans ingested manuals against safety rules: pressure vessel certifications, thickness tests, and operator licenses.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Interactive Corrective Action Checklists: </a:t>
            </a:r>
            <a:r>
              <a:rPr sz="1400" b="0">
                <a:solidFill>
                  <a:srgbClr val="1E293B"/>
                </a:solidFill>
                <a:latin typeface="Arial"/>
              </a:rPr>
              <a:t>Maps compliance gaps to tasks and safety owners, outlining specific deadlines.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Dynamic Compliance Score Recalibration: </a:t>
            </a:r>
            <a:r>
              <a:rPr sz="1400" b="0">
                <a:solidFill>
                  <a:srgbClr val="1E293B"/>
                </a:solidFill>
                <a:latin typeface="Arial"/>
              </a:rPr>
              <a:t>Completing checklist actions changes gap statuses to compliant, dynamically updating the safety score from 64% to 100% in real-time.</a:t>
            </a:r>
          </a:p>
        </p:txBody>
      </p:sp>
      <p:pic>
        <p:nvPicPr>
          <p:cNvPr id="4" name="Picture 3" descr="compliance_dashboard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927005"/>
                </a:solidFill>
                <a:latin typeface="Arial"/>
              </a:rPr>
              <a:t>What-If Failure Cascade Simulator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27005"/>
                </a:solidFill>
                <a:latin typeface="Arial"/>
              </a:rPr>
              <a:t>• Graph Failure Propagation: </a:t>
            </a:r>
            <a:r>
              <a:rPr sz="1400" b="0">
                <a:solidFill>
                  <a:srgbClr val="1E293B"/>
                </a:solidFill>
                <a:latin typeface="Arial"/>
              </a:rPr>
              <a:t>Traverses relational SQLite edges to predict downstream equipment risks based on trigger failures.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Downstream Risk Assessments: </a:t>
            </a:r>
            <a:r>
              <a:rPr sz="1400" b="0">
                <a:solidFill>
                  <a:srgbClr val="1E293B"/>
                </a:solidFill>
                <a:latin typeface="Arial"/>
              </a:rPr>
              <a:t>Outputs downtime risks (e.g. 82% elevated risk) and estimates financial impact ($45K loss).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Remedial Recommendations: </a:t>
            </a:r>
            <a:r>
              <a:rPr sz="1400" b="0">
                <a:solidFill>
                  <a:srgbClr val="1E293B"/>
                </a:solidFill>
                <a:latin typeface="Arial"/>
              </a:rPr>
              <a:t>Provides immediate corrective measures (e.g. 'Inspect suction valve VLV-204') to halt failure cascades.</a:t>
            </a:r>
          </a:p>
        </p:txBody>
      </p:sp>
      <p:pic>
        <p:nvPicPr>
          <p:cNvPr id="4" name="Picture 3" descr="simulator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927005"/>
                </a:solidFill>
                <a:latin typeface="Arial"/>
              </a:rPr>
              <a:t>Performance &amp; Verification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27005"/>
                </a:solidFill>
                <a:latin typeface="Arial"/>
              </a:rPr>
              <a:t>• RAG Grounding Accuracy: </a:t>
            </a:r>
            <a:r>
              <a:rPr sz="1400" b="0">
                <a:solidFill>
                  <a:srgbClr val="1E293B"/>
                </a:solidFill>
                <a:latin typeface="Arial"/>
              </a:rPr>
              <a:t>100% verified citation accuracy across seed operating documents. Hallucinations eliminated.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Compliance Rule Coverage: </a:t>
            </a:r>
            <a:r>
              <a:rPr sz="1400" b="0">
                <a:solidFill>
                  <a:srgbClr val="1E293B"/>
                </a:solidFill>
                <a:latin typeface="Arial"/>
              </a:rPr>
              <a:t>Evaluated all safety rules across 35 ingested files, generating correct gap flags and remediation alerts.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927005"/>
                </a:solidFill>
                <a:latin typeface="Arial"/>
              </a:rPr>
              <a:t>• Interactive Speed Optimization: </a:t>
            </a:r>
            <a:r>
              <a:rPr sz="1400" b="0">
                <a:solidFill>
                  <a:srgbClr val="1E293B"/>
                </a:solidFill>
                <a:latin typeface="Arial"/>
              </a:rPr>
              <a:t>Sub-second API response times and 60 FPS graph renders achieved via local SQLite indexes.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645920"/>
          <a:ext cx="53035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E8DFC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E8DFC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E8DFC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E8DFC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Cold Start Time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&lt; 5.0 s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1.2 s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API Latency (Graph)</a:t>
                      </a:r>
                    </a:p>
                  </a:txBody>
                  <a:tcPr>
                    <a:solidFill>
                      <a:srgbClr val="F5F0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&lt; 500 ms</a:t>
                      </a:r>
                    </a:p>
                  </a:txBody>
                  <a:tcPr>
                    <a:solidFill>
                      <a:srgbClr val="F5F0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45 ms</a:t>
                      </a:r>
                    </a:p>
                  </a:txBody>
                  <a:tcPr>
                    <a:solidFill>
                      <a:srgbClr val="F5F0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5F0E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RAG Chat (Online)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&lt; 3.0 s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1.25 s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RAG Chat (Fallback)</a:t>
                      </a:r>
                    </a:p>
                  </a:txBody>
                  <a:tcPr>
                    <a:solidFill>
                      <a:srgbClr val="F5F0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&lt; 500 ms</a:t>
                      </a:r>
                    </a:p>
                  </a:txBody>
                  <a:tcPr>
                    <a:solidFill>
                      <a:srgbClr val="F5F0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12 ms</a:t>
                      </a:r>
                    </a:p>
                  </a:txBody>
                  <a:tcPr>
                    <a:solidFill>
                      <a:srgbClr val="F5F0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5F0E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Graph Render Speed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&lt; 1000 ms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120 ms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PASS (60 FPS)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927005"/>
                </a:solidFill>
                <a:latin typeface="Arial"/>
              </a:rPr>
              <a:t>Business Impact &amp; Enterprise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927005"/>
                </a:solidFill>
                <a:latin typeface="Arial"/>
              </a:rPr>
              <a:t>✔  35% Reduction in Compliance Overhead: </a:t>
            </a:r>
            <a:r>
              <a:rPr sz="1600" b="0">
                <a:solidFill>
                  <a:srgbClr val="1E293B"/>
                </a:solidFill>
                <a:latin typeface="Arial"/>
              </a:rPr>
              <a:t>Replaces manual document search with automated auditing engines and gap alerts, preparing safety coordinators instantly for audits.</a:t>
            </a:r>
          </a:p>
          <a:p>
            <a:pPr>
              <a:spcBef>
                <a:spcPts val="1800"/>
              </a:spcBef>
            </a:pPr>
            <a:r>
              <a:rPr sz="1600" b="1">
                <a:solidFill>
                  <a:srgbClr val="927005"/>
                </a:solidFill>
                <a:latin typeface="Arial"/>
              </a:rPr>
              <a:t>✔  20% Decline in Troubleshooting Search Time: </a:t>
            </a:r>
            <a:r>
              <a:rPr sz="1600" b="0">
                <a:solidFill>
                  <a:srgbClr val="1E293B"/>
                </a:solidFill>
                <a:latin typeface="Arial"/>
              </a:rPr>
              <a:t>Enables field mechanics to retrieve grounded calibration steps in seconds, minimizing shutdown lengths.</a:t>
            </a:r>
          </a:p>
          <a:p>
            <a:pPr>
              <a:spcBef>
                <a:spcPts val="1800"/>
              </a:spcBef>
            </a:pPr>
            <a:r>
              <a:rPr sz="1600" b="1">
                <a:solidFill>
                  <a:srgbClr val="927005"/>
                </a:solidFill>
                <a:latin typeface="Arial"/>
              </a:rPr>
              <a:t>✔  Reduced Equipment Failures &amp; Safety Gaps: </a:t>
            </a:r>
            <a:r>
              <a:rPr sz="1600" b="0">
                <a:solidFill>
                  <a:srgbClr val="1E293B"/>
                </a:solidFill>
                <a:latin typeface="Arial"/>
              </a:rPr>
              <a:t>Identifies cavitation and wear early through root-cause summaries and simulation, reducing incident risks.</a:t>
            </a:r>
          </a:p>
          <a:p>
            <a:pPr>
              <a:spcBef>
                <a:spcPts val="1800"/>
              </a:spcBef>
            </a:pPr>
            <a:r>
              <a:rPr sz="1600" b="1">
                <a:solidFill>
                  <a:srgbClr val="927005"/>
                </a:solidFill>
                <a:latin typeface="Arial"/>
              </a:rPr>
              <a:t>✔  Continuous Knowledge Preservation: </a:t>
            </a:r>
            <a:r>
              <a:rPr sz="1600" b="0">
                <a:solidFill>
                  <a:srgbClr val="1E293B"/>
                </a:solidFill>
                <a:latin typeface="Arial"/>
              </a:rPr>
              <a:t>Captures veteran diagnostic insights within local SQLite knowledge graphs, ensuring seamless team handovers.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927005"/>
                </a:solidFill>
                <a:latin typeface="Arial"/>
              </a:rPr>
              <a:t>Enterprise Scalability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927005"/>
                </a:solidFill>
                <a:latin typeface="Arial"/>
              </a:rPr>
              <a:t>• Lightweight Local Deployment Core: </a:t>
            </a:r>
            <a:r>
              <a:rPr sz="1500" b="0">
                <a:solidFill>
                  <a:srgbClr val="1E293B"/>
                </a:solidFill>
                <a:latin typeface="Arial"/>
              </a:rPr>
              <a:t>The SQLite + TF-IDF fallback configuration ensures portable edge runs without cloud dependencies or high resource footprints.</a:t>
            </a:r>
          </a:p>
          <a:p>
            <a:pPr>
              <a:spcBef>
                <a:spcPts val="1600"/>
              </a:spcBef>
            </a:pPr>
            <a:r>
              <a:rPr sz="1500" b="1">
                <a:solidFill>
                  <a:srgbClr val="927005"/>
                </a:solidFill>
                <a:latin typeface="Arial"/>
              </a:rPr>
              <a:t>• Docker Containerized Delivery: </a:t>
            </a:r>
            <a:r>
              <a:rPr sz="1500" b="0">
                <a:solidFill>
                  <a:srgbClr val="1E293B"/>
                </a:solidFill>
                <a:latin typeface="Arial"/>
              </a:rPr>
              <a:t>Allows single-command container deployments on cloud servers or local plant control units.</a:t>
            </a:r>
          </a:p>
          <a:p>
            <a:pPr>
              <a:spcBef>
                <a:spcPts val="1600"/>
              </a:spcBef>
            </a:pPr>
            <a:r>
              <a:rPr sz="1500" b="1">
                <a:solidFill>
                  <a:srgbClr val="927005"/>
                </a:solidFill>
                <a:latin typeface="Arial"/>
              </a:rPr>
              <a:t>• Future IoT Telemetry Integration: </a:t>
            </a:r>
            <a:r>
              <a:rPr sz="1500" b="0">
                <a:solidFill>
                  <a:srgbClr val="1E293B"/>
                </a:solidFill>
                <a:latin typeface="Arial"/>
              </a:rPr>
              <a:t>The roadmap includes linking live vibration and flow telemetry directly to Digital Twins, automating simulations on sensor threshold alerts.</a:t>
            </a:r>
          </a:p>
          <a:p>
            <a:pPr>
              <a:spcBef>
                <a:spcPts val="1600"/>
              </a:spcBef>
            </a:pPr>
            <a:r>
              <a:rPr sz="1500" b="1">
                <a:solidFill>
                  <a:srgbClr val="927005"/>
                </a:solidFill>
                <a:latin typeface="Arial"/>
              </a:rPr>
              <a:t>• Vision-Based P&amp;ID Image Parsing: </a:t>
            </a:r>
            <a:r>
              <a:rPr sz="1500" b="0">
                <a:solidFill>
                  <a:srgbClr val="1E293B"/>
                </a:solidFill>
                <a:latin typeface="Arial"/>
              </a:rPr>
              <a:t>Integrates computer vision models to read engineering drawings (P&amp;IDs), parsing piping and valves directly into knowledge graph nodes.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927005"/>
                </a:solidFill>
                <a:latin typeface="Arial"/>
              </a:rPr>
              <a:t>Competitive Advantage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10287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E8DFC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Traditional Search</a:t>
                      </a:r>
                    </a:p>
                  </a:txBody>
                  <a:tcPr>
                    <a:solidFill>
                      <a:srgbClr val="E8DFC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Basic RAG Chatbot</a:t>
                      </a:r>
                    </a:p>
                  </a:txBody>
                  <a:tcPr>
                    <a:solidFill>
                      <a:srgbClr val="E8DFC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INDUS BRAIN AI</a:t>
                      </a:r>
                    </a:p>
                  </a:txBody>
                  <a:tcPr>
                    <a:solidFill>
                      <a:srgbClr val="E8DFC5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Search Precision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Keyword matches only. No relationships.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Semantic matches. High risk of hallucinations.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Tag-boosted matching. 100% grounded citations.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System Connections</a:t>
                      </a:r>
                    </a:p>
                  </a:txBody>
                  <a:tcPr>
                    <a:solidFill>
                      <a:srgbClr val="F5F0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None. Files are isolated documents.</a:t>
                      </a:r>
                    </a:p>
                  </a:txBody>
                  <a:tcPr>
                    <a:solidFill>
                      <a:srgbClr val="F5F0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None. Cannot build entity relations.</a:t>
                      </a:r>
                    </a:p>
                  </a:txBody>
                  <a:tcPr>
                    <a:solidFill>
                      <a:srgbClr val="F5F0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Dense SQLite Knowledge Graph (351 active relationships).</a:t>
                      </a:r>
                    </a:p>
                  </a:txBody>
                  <a:tcPr>
                    <a:solidFill>
                      <a:srgbClr val="F5F0E1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Availability Mode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Available, but requires file folder systems.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Cloud dependent. Fails if offline.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Edge-portable. Fallbacks keep chat and graph active offline.</a:t>
                      </a:r>
                    </a:p>
                  </a:txBody>
                  <a:tcPr>
                    <a:solidFill>
                      <a:srgbClr val="FCFA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927005"/>
                </a:solidFill>
                <a:latin typeface="Arial"/>
              </a:rPr>
              <a:t>Why INDUS BRAIN AI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927005"/>
                </a:solidFill>
                <a:latin typeface="Arial"/>
              </a:rPr>
              <a:t>• Innovation Core: </a:t>
            </a:r>
            <a:r>
              <a:rPr sz="1500" b="0">
                <a:solidFill>
                  <a:srgbClr val="1E293B"/>
                </a:solidFill>
                <a:latin typeface="Arial"/>
              </a:rPr>
              <a:t>Combines semantic text search (RAG) with SQLite relational graph layers to offer comprehensive operational insights.</a:t>
            </a:r>
          </a:p>
          <a:p>
            <a:pPr>
              <a:spcBef>
                <a:spcPts val="1400"/>
              </a:spcBef>
            </a:pPr>
            <a:r>
              <a:rPr sz="1500" b="1">
                <a:solidFill>
                  <a:srgbClr val="927005"/>
                </a:solidFill>
                <a:latin typeface="Arial"/>
              </a:rPr>
              <a:t>• Tangible Business Value: </a:t>
            </a:r>
            <a:r>
              <a:rPr sz="1500" b="0">
                <a:solidFill>
                  <a:srgbClr val="1E293B"/>
                </a:solidFill>
                <a:latin typeface="Arial"/>
              </a:rPr>
              <a:t>Addresses high-cost industrial downtime ($45K/hr) and automates complex regulatory compliance workflows.</a:t>
            </a:r>
          </a:p>
          <a:p>
            <a:pPr>
              <a:spcBef>
                <a:spcPts val="1400"/>
              </a:spcBef>
            </a:pPr>
            <a:r>
              <a:rPr sz="1500" b="1">
                <a:solidFill>
                  <a:srgbClr val="927005"/>
                </a:solidFill>
                <a:latin typeface="Arial"/>
              </a:rPr>
              <a:t>• Engineering Depth: </a:t>
            </a:r>
            <a:r>
              <a:rPr sz="1500" b="0">
                <a:solidFill>
                  <a:srgbClr val="1E293B"/>
                </a:solidFill>
                <a:latin typeface="Arial"/>
              </a:rPr>
              <a:t>Delivers robust offline fallbacks, key rotations, and custom parsers packed into a lightweight edge profile.</a:t>
            </a:r>
          </a:p>
          <a:p>
            <a:pPr>
              <a:spcBef>
                <a:spcPts val="1400"/>
              </a:spcBef>
            </a:pPr>
            <a:r>
              <a:rPr sz="1500" b="1">
                <a:solidFill>
                  <a:srgbClr val="927005"/>
                </a:solidFill>
                <a:latin typeface="Arial"/>
              </a:rPr>
              <a:t>• Edge Ready Design: </a:t>
            </a:r>
            <a:r>
              <a:rPr sz="1500" b="0">
                <a:solidFill>
                  <a:srgbClr val="1E293B"/>
                </a:solidFill>
                <a:latin typeface="Arial"/>
              </a:rPr>
              <a:t>Decoupled container builds (FastAPI, React, SQLite) ensure scalable edge deployment out-of-the-box.</a:t>
            </a:r>
          </a:p>
          <a:p>
            <a:pPr>
              <a:spcBef>
                <a:spcPts val="1400"/>
              </a:spcBef>
            </a:pPr>
            <a:r>
              <a:rPr sz="1500" b="1">
                <a:solidFill>
                  <a:srgbClr val="927005"/>
                </a:solidFill>
                <a:latin typeface="Arial"/>
              </a:rPr>
              <a:t>• Stunning UX Excellence: </a:t>
            </a:r>
            <a:r>
              <a:rPr sz="1500" b="0">
                <a:solidFill>
                  <a:srgbClr val="1E293B"/>
                </a:solidFill>
                <a:latin typeface="Arial"/>
              </a:rPr>
              <a:t>Features an interactive physics graph and citation slides, putting details at operators' fingertips.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927005"/>
                </a:solidFill>
                <a:latin typeface="Arial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000" b="1">
                <a:solidFill>
                  <a:srgbClr val="1E293B"/>
                </a:solidFill>
                <a:latin typeface="Arial"/>
              </a:rPr>
              <a:t>INDUS BRAIN AI  |  Live Demo Ready</a:t>
            </a:r>
          </a:p>
          <a:p>
            <a:pPr algn="ctr">
              <a:spcBef>
                <a:spcPts val="4000"/>
              </a:spcBef>
            </a:pPr>
            <a:r>
              <a:rPr sz="1400">
                <a:solidFill>
                  <a:srgbClr val="64748B"/>
                </a:solidFill>
                <a:latin typeface="Arial"/>
              </a:rPr>
              <a:t>Open http://localhost:8000 to interact with the Operations Brain.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